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9" r:id="rId9"/>
    <p:sldId id="262" r:id="rId10"/>
    <p:sldId id="263" r:id="rId11"/>
    <p:sldId id="266" r:id="rId12"/>
  </p:sldIdLst>
  <p:sldSz cx="18288000" cy="10287000"/>
  <p:notesSz cx="6858000" cy="9144000"/>
  <p:embeddedFontLst>
    <p:embeddedFont>
      <p:font typeface="Tw Cen MT" pitchFamily="34" charset="0"/>
      <p:regular r:id="rId13"/>
      <p:bold r:id="rId14"/>
      <p:italic r:id="rId15"/>
      <p:boldItalic r:id="rId16"/>
    </p:embeddedFont>
    <p:embeddedFont>
      <p:font typeface="Canva Sans Bold" charset="0"/>
      <p:regular r:id="rId17"/>
    </p:embeddedFont>
    <p:embeddedFont>
      <p:font typeface="Wingdings 2" pitchFamily="18" charset="2"/>
      <p:regular r:id="rId18"/>
    </p:embeddedFont>
  </p:embeddedFontLst>
  <p:defaultTextStyle>
    <a:defPPr>
      <a:defRPr lang="en-US"/>
    </a:defPPr>
    <a:lvl1pPr marL="0" algn="l" defTabSz="9143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93" algn="l" defTabSz="9143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89" algn="l" defTabSz="9143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85" algn="l" defTabSz="9143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82" algn="l" defTabSz="9143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78" algn="l" defTabSz="9143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74" algn="l" defTabSz="9143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71" algn="l" defTabSz="9143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-5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8956548"/>
            <a:ext cx="18288000" cy="133045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18288" y="9079992"/>
            <a:ext cx="4498848" cy="106984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4718304" y="9066276"/>
            <a:ext cx="13569696" cy="106984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724400" y="6057900"/>
            <a:ext cx="12954000" cy="27432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724400" y="9075056"/>
            <a:ext cx="13411200" cy="1028700"/>
          </a:xfrm>
        </p:spPr>
        <p:txBody>
          <a:bodyPr anchor="ctr">
            <a:normAutofit/>
          </a:bodyPr>
          <a:lstStyle>
            <a:lvl1pPr marL="0" indent="0" algn="l">
              <a:buNone/>
              <a:defRPr sz="4600">
                <a:solidFill>
                  <a:srgbClr val="FFFFFF"/>
                </a:solidFill>
              </a:defRPr>
            </a:lvl1pPr>
            <a:lvl2pPr marL="816422" indent="0" algn="ctr">
              <a:buNone/>
            </a:lvl2pPr>
            <a:lvl3pPr marL="1632844" indent="0" algn="ctr">
              <a:buNone/>
            </a:lvl3pPr>
            <a:lvl4pPr marL="2449266" indent="0" algn="ctr">
              <a:buNone/>
            </a:lvl4pPr>
            <a:lvl5pPr marL="3265688" indent="0" algn="ctr">
              <a:buNone/>
            </a:lvl5pPr>
            <a:lvl6pPr marL="4082110" indent="0" algn="ctr">
              <a:buNone/>
            </a:lvl6pPr>
            <a:lvl7pPr marL="4898532" indent="0" algn="ctr">
              <a:buNone/>
            </a:lvl7pPr>
            <a:lvl8pPr marL="5714954" indent="0" algn="ctr">
              <a:buNone/>
            </a:lvl8pPr>
            <a:lvl9pPr marL="6531376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52400" y="9103049"/>
            <a:ext cx="4114800" cy="1028700"/>
          </a:xfrm>
        </p:spPr>
        <p:txBody>
          <a:bodyPr>
            <a:noAutofit/>
          </a:bodyPr>
          <a:lstStyle>
            <a:lvl1pPr algn="ctr">
              <a:defRPr sz="36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4170786" y="354808"/>
            <a:ext cx="11734800" cy="547688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6002000" y="342900"/>
            <a:ext cx="1676400" cy="571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25296" y="342900"/>
            <a:ext cx="16306800" cy="14859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1225296" y="2400300"/>
            <a:ext cx="16306800" cy="67437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743201" y="4114800"/>
            <a:ext cx="14246226" cy="2509838"/>
          </a:xfrm>
        </p:spPr>
        <p:txBody>
          <a:bodyPr anchor="t"/>
          <a:lstStyle>
            <a:lvl1pPr marL="0" indent="0">
              <a:buNone/>
              <a:defRPr sz="5000">
                <a:solidFill>
                  <a:schemeClr val="tx2"/>
                </a:solidFill>
              </a:defRPr>
            </a:lvl1pPr>
            <a:lvl2pPr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2286000"/>
            <a:ext cx="18288000" cy="17145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2400300"/>
            <a:ext cx="2590800" cy="14859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2743200" y="2400300"/>
            <a:ext cx="15544800" cy="14859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43200" y="2400300"/>
            <a:ext cx="15240000" cy="1485900"/>
          </a:xfrm>
        </p:spPr>
        <p:txBody>
          <a:bodyPr/>
          <a:lstStyle>
            <a:lvl1pPr algn="l">
              <a:buNone/>
              <a:defRPr sz="79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2628900"/>
            <a:ext cx="2590800" cy="1052514"/>
          </a:xfrm>
        </p:spPr>
        <p:txBody>
          <a:bodyPr>
            <a:noAutofit/>
          </a:bodyPr>
          <a:lstStyle>
            <a:lvl1pPr>
              <a:defRPr sz="43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1219200" y="2384350"/>
            <a:ext cx="7772400" cy="6858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9689802" y="2384350"/>
            <a:ext cx="7772400" cy="6858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6800" y="409575"/>
            <a:ext cx="16306800" cy="1304925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1219200" y="3657600"/>
            <a:ext cx="7772400" cy="53721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9601200" y="3657600"/>
            <a:ext cx="7772400" cy="53721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1219200" y="2628900"/>
            <a:ext cx="7772400" cy="96012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9601200" y="2628900"/>
            <a:ext cx="7772400" cy="96012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9372600"/>
            <a:ext cx="1066800" cy="571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409575"/>
            <a:ext cx="16154400" cy="1304925"/>
          </a:xfrm>
        </p:spPr>
        <p:txBody>
          <a:bodyPr anchor="ctr"/>
          <a:lstStyle>
            <a:lvl1pPr algn="l">
              <a:buNone/>
              <a:defRPr sz="79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1219200" y="2628900"/>
            <a:ext cx="3200400" cy="65151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244927" tIns="326569" rIns="244927" bIns="163284"/>
          <a:lstStyle>
            <a:lvl1pPr marL="0" indent="0">
              <a:spcAft>
                <a:spcPts val="1786"/>
              </a:spcAft>
              <a:buNone/>
              <a:defRPr sz="32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724400" y="2628900"/>
            <a:ext cx="12801600" cy="6629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200400" y="8229600"/>
            <a:ext cx="14630400" cy="1028700"/>
          </a:xfrm>
        </p:spPr>
        <p:txBody>
          <a:bodyPr/>
          <a:lstStyle>
            <a:lvl1pPr marL="0" indent="0">
              <a:buFontTx/>
              <a:buNone/>
              <a:defRPr sz="3000"/>
            </a:lvl1pPr>
            <a:lvl2pPr>
              <a:buFontTx/>
              <a:buNone/>
              <a:defRPr sz="2100"/>
            </a:lvl2pPr>
            <a:lvl3pPr>
              <a:buFontTx/>
              <a:buNone/>
              <a:defRPr sz="1800"/>
            </a:lvl3pPr>
            <a:lvl4pPr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18288" y="6858000"/>
            <a:ext cx="18288000" cy="133045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18288" y="6995160"/>
            <a:ext cx="2926080" cy="106984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3090672" y="6981444"/>
            <a:ext cx="15197328" cy="106984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00400" y="6972300"/>
            <a:ext cx="14630400" cy="1028700"/>
          </a:xfrm>
        </p:spPr>
        <p:txBody>
          <a:bodyPr anchor="ctr"/>
          <a:lstStyle>
            <a:lvl1pPr algn="l">
              <a:buNone/>
              <a:defRPr sz="50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2895600" y="0"/>
            <a:ext cx="201168" cy="1030071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12496800" y="9372601"/>
            <a:ext cx="5334000" cy="547688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7000874"/>
            <a:ext cx="2895600" cy="995367"/>
          </a:xfrm>
        </p:spPr>
        <p:txBody>
          <a:bodyPr rtlCol="0"/>
          <a:lstStyle>
            <a:lvl1pPr>
              <a:defRPr sz="5000"/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3200400" y="9372310"/>
            <a:ext cx="9144000" cy="547688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121152" y="0"/>
            <a:ext cx="15166848" cy="6853428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57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3106400" y="914401"/>
            <a:ext cx="4114800" cy="827484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11125200" cy="8274846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13106400" y="9372604"/>
            <a:ext cx="4419600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914403" y="9372311"/>
            <a:ext cx="1114696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12192636" y="0"/>
            <a:ext cx="640080" cy="10287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12284076" y="914400"/>
            <a:ext cx="457200" cy="93726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2284076" y="0"/>
            <a:ext cx="457200" cy="8001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12112626" y="155574"/>
            <a:ext cx="800100" cy="48895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342900"/>
            <a:ext cx="16306800" cy="1485900"/>
          </a:xfrm>
          <a:prstGeom prst="rect">
            <a:avLst/>
          </a:prstGeom>
        </p:spPr>
        <p:txBody>
          <a:bodyPr vert="horz" lIns="163284" tIns="81642" rIns="163284" bIns="81642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25296" y="2400300"/>
            <a:ext cx="16306800" cy="6789420"/>
          </a:xfrm>
          <a:prstGeom prst="rect">
            <a:avLst/>
          </a:prstGeom>
        </p:spPr>
        <p:txBody>
          <a:bodyPr vert="horz" lIns="163284" tIns="81642" rIns="163284" bIns="81642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12192000" y="9372601"/>
            <a:ext cx="5334000" cy="547688"/>
          </a:xfrm>
          <a:prstGeom prst="rect">
            <a:avLst/>
          </a:prstGeom>
        </p:spPr>
        <p:txBody>
          <a:bodyPr vert="horz" lIns="163284" tIns="81642" rIns="163284" bIns="81642" anchor="ctr" anchorCtr="0"/>
          <a:lstStyle>
            <a:lvl1pPr algn="l" eaLnBrk="1" latinLnBrk="0" hangingPunct="1">
              <a:defRPr kumimoji="0" sz="25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1219201" y="9372310"/>
            <a:ext cx="10842166" cy="547688"/>
          </a:xfrm>
          <a:prstGeom prst="rect">
            <a:avLst/>
          </a:prstGeom>
        </p:spPr>
        <p:txBody>
          <a:bodyPr vert="horz" lIns="163284" tIns="81642" rIns="163284" bIns="81642" anchor="ctr"/>
          <a:lstStyle>
            <a:lvl1pPr algn="r" eaLnBrk="1" latinLnBrk="0" hangingPunct="1">
              <a:defRPr kumimoji="0" sz="25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851660"/>
            <a:ext cx="18288000" cy="48006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920240"/>
            <a:ext cx="1066800" cy="3429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181100" y="1920240"/>
            <a:ext cx="17106900" cy="3429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908333"/>
            <a:ext cx="1066800" cy="366714"/>
          </a:xfrm>
          <a:prstGeom prst="rect">
            <a:avLst/>
          </a:prstGeom>
        </p:spPr>
        <p:txBody>
          <a:bodyPr vert="horz" lIns="163284" tIns="81642" rIns="163284" bIns="81642" anchor="ctr" anchorCtr="0">
            <a:normAutofit/>
          </a:bodyPr>
          <a:lstStyle>
            <a:lvl1pPr algn="ctr" eaLnBrk="1" latinLnBrk="0" hangingPunct="1">
              <a:defRPr kumimoji="0" sz="25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79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571495" indent="-571495" algn="l" rtl="0" eaLnBrk="1" latinLnBrk="0" hangingPunct="1">
        <a:spcBef>
          <a:spcPts val="1250"/>
        </a:spcBef>
        <a:buClr>
          <a:schemeClr val="accent2"/>
        </a:buClr>
        <a:buSzPct val="60000"/>
        <a:buFont typeface="Wingdings"/>
        <a:buChar char=""/>
        <a:defRPr kumimoji="0" sz="5200" kern="1200">
          <a:solidFill>
            <a:schemeClr val="tx1"/>
          </a:solidFill>
          <a:latin typeface="+mn-lt"/>
          <a:ea typeface="+mn-ea"/>
          <a:cs typeface="+mn-cs"/>
        </a:defRPr>
      </a:lvl1pPr>
      <a:lvl2pPr marL="1142991" indent="-489853" algn="l" rtl="0" eaLnBrk="1" latinLnBrk="0" hangingPunct="1">
        <a:spcBef>
          <a:spcPts val="982"/>
        </a:spcBef>
        <a:buClr>
          <a:schemeClr val="accent1"/>
        </a:buClr>
        <a:buSzPct val="70000"/>
        <a:buFont typeface="Wingdings 2"/>
        <a:buChar char=""/>
        <a:defRPr kumimoji="0" sz="46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44" indent="-408211" algn="l" rtl="0" eaLnBrk="1" latinLnBrk="0" hangingPunct="1">
        <a:spcBef>
          <a:spcPts val="893"/>
        </a:spcBef>
        <a:buClr>
          <a:schemeClr val="accent2"/>
        </a:buClr>
        <a:buSzPct val="75000"/>
        <a:buFont typeface="Wingdings"/>
        <a:buChar char=""/>
        <a:defRPr kumimoji="0" sz="41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266" indent="-408211" algn="l" rtl="0" eaLnBrk="1" latinLnBrk="0" hangingPunct="1">
        <a:spcBef>
          <a:spcPts val="714"/>
        </a:spcBef>
        <a:buClr>
          <a:schemeClr val="accent3"/>
        </a:buClr>
        <a:buSzPct val="75000"/>
        <a:buFont typeface="Wingdings"/>
        <a:buChar char=""/>
        <a:defRPr kumimoji="0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688" indent="-408211" algn="l" rtl="0" eaLnBrk="1" latinLnBrk="0" hangingPunct="1">
        <a:spcBef>
          <a:spcPts val="714"/>
        </a:spcBef>
        <a:buClr>
          <a:schemeClr val="accent4"/>
        </a:buClr>
        <a:buSzPct val="65000"/>
        <a:buFont typeface="Wingdings"/>
        <a:buChar char=""/>
        <a:defRPr kumimoji="0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3755541" indent="-408211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3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4245395" indent="-408211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3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4735248" indent="-408211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3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225101" indent="-408211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3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81642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4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24492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326568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40821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48985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653137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58841" y="550621"/>
            <a:ext cx="7902966" cy="4592882"/>
          </a:xfrm>
          <a:custGeom>
            <a:avLst/>
            <a:gdLst/>
            <a:ahLst/>
            <a:cxnLst/>
            <a:rect l="l" t="t" r="r" b="b"/>
            <a:pathLst>
              <a:path w="7902966" h="4592881">
                <a:moveTo>
                  <a:pt x="0" y="0"/>
                </a:moveTo>
                <a:lnTo>
                  <a:pt x="7902966" y="0"/>
                </a:lnTo>
                <a:lnTo>
                  <a:pt x="7902966" y="4592881"/>
                </a:lnTo>
                <a:lnTo>
                  <a:pt x="0" y="4592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720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2563" y="5143501"/>
            <a:ext cx="7902966" cy="4592882"/>
          </a:xfrm>
          <a:custGeom>
            <a:avLst/>
            <a:gdLst/>
            <a:ahLst/>
            <a:cxnLst/>
            <a:rect l="l" t="t" r="r" b="b"/>
            <a:pathLst>
              <a:path w="7902966" h="4592881">
                <a:moveTo>
                  <a:pt x="0" y="0"/>
                </a:moveTo>
                <a:lnTo>
                  <a:pt x="7902966" y="0"/>
                </a:lnTo>
                <a:lnTo>
                  <a:pt x="7902966" y="4592881"/>
                </a:lnTo>
                <a:lnTo>
                  <a:pt x="0" y="4592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72069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0085" y="2338033"/>
            <a:ext cx="11001802" cy="6463922"/>
            <a:chOff x="0" y="0"/>
            <a:chExt cx="2897594" cy="1702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7594" cy="1702432"/>
            </a:xfrm>
            <a:custGeom>
              <a:avLst/>
              <a:gdLst/>
              <a:ahLst/>
              <a:cxnLst/>
              <a:rect l="l" t="t" r="r" b="b"/>
              <a:pathLst>
                <a:path w="2897594" h="1702432">
                  <a:moveTo>
                    <a:pt x="4926" y="0"/>
                  </a:moveTo>
                  <a:lnTo>
                    <a:pt x="2892668" y="0"/>
                  </a:lnTo>
                  <a:cubicBezTo>
                    <a:pt x="2893975" y="0"/>
                    <a:pt x="2895227" y="519"/>
                    <a:pt x="2896151" y="1443"/>
                  </a:cubicBezTo>
                  <a:cubicBezTo>
                    <a:pt x="2897075" y="2367"/>
                    <a:pt x="2897594" y="3619"/>
                    <a:pt x="2897594" y="4926"/>
                  </a:cubicBezTo>
                  <a:lnTo>
                    <a:pt x="2897594" y="1697506"/>
                  </a:lnTo>
                  <a:cubicBezTo>
                    <a:pt x="2897594" y="1698813"/>
                    <a:pt x="2897075" y="1700065"/>
                    <a:pt x="2896151" y="1700989"/>
                  </a:cubicBezTo>
                  <a:cubicBezTo>
                    <a:pt x="2895227" y="1701913"/>
                    <a:pt x="2893975" y="1702432"/>
                    <a:pt x="2892668" y="1702432"/>
                  </a:cubicBezTo>
                  <a:lnTo>
                    <a:pt x="4926" y="1702432"/>
                  </a:lnTo>
                  <a:cubicBezTo>
                    <a:pt x="3619" y="1702432"/>
                    <a:pt x="2367" y="1701913"/>
                    <a:pt x="1443" y="1700989"/>
                  </a:cubicBezTo>
                  <a:cubicBezTo>
                    <a:pt x="519" y="1700065"/>
                    <a:pt x="0" y="1698813"/>
                    <a:pt x="0" y="1697506"/>
                  </a:cubicBezTo>
                  <a:lnTo>
                    <a:pt x="0" y="4926"/>
                  </a:lnTo>
                  <a:cubicBezTo>
                    <a:pt x="0" y="3619"/>
                    <a:pt x="519" y="2367"/>
                    <a:pt x="1443" y="1443"/>
                  </a:cubicBezTo>
                  <a:cubicBezTo>
                    <a:pt x="2367" y="519"/>
                    <a:pt x="3619" y="0"/>
                    <a:pt x="4926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97594" cy="1740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210085" y="1430809"/>
            <a:ext cx="11001802" cy="964376"/>
            <a:chOff x="0" y="0"/>
            <a:chExt cx="2897594" cy="2539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97594" cy="253992"/>
            </a:xfrm>
            <a:custGeom>
              <a:avLst/>
              <a:gdLst/>
              <a:ahLst/>
              <a:cxnLst/>
              <a:rect l="l" t="t" r="r" b="b"/>
              <a:pathLst>
                <a:path w="2897594" h="253992">
                  <a:moveTo>
                    <a:pt x="4926" y="0"/>
                  </a:moveTo>
                  <a:lnTo>
                    <a:pt x="2892668" y="0"/>
                  </a:lnTo>
                  <a:cubicBezTo>
                    <a:pt x="2893975" y="0"/>
                    <a:pt x="2895227" y="519"/>
                    <a:pt x="2896151" y="1443"/>
                  </a:cubicBezTo>
                  <a:cubicBezTo>
                    <a:pt x="2897075" y="2367"/>
                    <a:pt x="2897594" y="3619"/>
                    <a:pt x="2897594" y="4926"/>
                  </a:cubicBezTo>
                  <a:lnTo>
                    <a:pt x="2897594" y="249066"/>
                  </a:lnTo>
                  <a:cubicBezTo>
                    <a:pt x="2897594" y="251786"/>
                    <a:pt x="2895389" y="253992"/>
                    <a:pt x="2892668" y="253992"/>
                  </a:cubicBezTo>
                  <a:lnTo>
                    <a:pt x="4926" y="253992"/>
                  </a:lnTo>
                  <a:cubicBezTo>
                    <a:pt x="3619" y="253992"/>
                    <a:pt x="2367" y="253473"/>
                    <a:pt x="1443" y="252549"/>
                  </a:cubicBezTo>
                  <a:cubicBezTo>
                    <a:pt x="519" y="251625"/>
                    <a:pt x="0" y="250372"/>
                    <a:pt x="0" y="249066"/>
                  </a:cubicBezTo>
                  <a:lnTo>
                    <a:pt x="0" y="4926"/>
                  </a:lnTo>
                  <a:cubicBezTo>
                    <a:pt x="0" y="3619"/>
                    <a:pt x="519" y="2367"/>
                    <a:pt x="1443" y="1443"/>
                  </a:cubicBezTo>
                  <a:cubicBezTo>
                    <a:pt x="2367" y="519"/>
                    <a:pt x="3619" y="0"/>
                    <a:pt x="4926" y="0"/>
                  </a:cubicBezTo>
                  <a:close/>
                </a:path>
              </a:pathLst>
            </a:custGeom>
            <a:solidFill>
              <a:srgbClr val="E4FB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97594" cy="292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640392" y="1739944"/>
            <a:ext cx="1793652" cy="346106"/>
            <a:chOff x="0" y="0"/>
            <a:chExt cx="2391536" cy="46147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61474" cy="461474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07B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965031" y="0"/>
              <a:ext cx="461474" cy="461474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CB88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930062" y="0"/>
              <a:ext cx="461474" cy="461474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0D2DD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1142944" y="4214807"/>
            <a:ext cx="11001452" cy="165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2880"/>
              </a:lnSpc>
            </a:pPr>
            <a:r>
              <a:rPr lang="en-US" sz="9300" b="1" dirty="0" err="1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Banco</a:t>
            </a:r>
            <a:r>
              <a:rPr lang="en-US" sz="93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dados</a:t>
            </a:r>
            <a:endParaRPr lang="en-US" sz="93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/>
          <p:cNvSpPr/>
          <p:nvPr/>
        </p:nvSpPr>
        <p:spPr>
          <a:xfrm>
            <a:off x="-4904646" y="8678993"/>
            <a:ext cx="8085732" cy="4699097"/>
          </a:xfrm>
          <a:custGeom>
            <a:avLst/>
            <a:gdLst/>
            <a:ahLst/>
            <a:cxnLst/>
            <a:rect l="l" t="t" r="r" b="b"/>
            <a:pathLst>
              <a:path w="8085731" h="4699097">
                <a:moveTo>
                  <a:pt x="0" y="0"/>
                </a:moveTo>
                <a:lnTo>
                  <a:pt x="8085731" y="0"/>
                </a:lnTo>
                <a:lnTo>
                  <a:pt x="8085731" y="4699096"/>
                </a:lnTo>
                <a:lnTo>
                  <a:pt x="0" y="469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b="-72069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714976" y="3714740"/>
            <a:ext cx="6878852" cy="1962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37"/>
              </a:lnSpc>
            </a:pPr>
            <a:r>
              <a:rPr lang="pt-BR" dirty="0" smtClean="0"/>
              <a:t>Criamos um banco de dados </a:t>
            </a:r>
            <a:r>
              <a:rPr lang="pt-BR" dirty="0" err="1" smtClean="0"/>
              <a:t>relacionalsurge</a:t>
            </a:r>
            <a:r>
              <a:rPr lang="pt-BR" dirty="0" smtClean="0"/>
              <a:t> porque precisamos </a:t>
            </a:r>
            <a:r>
              <a:rPr lang="pt-BR" dirty="0" smtClean="0"/>
              <a:t>de segurança</a:t>
            </a:r>
            <a:r>
              <a:rPr lang="pt-BR" dirty="0" smtClean="0"/>
              <a:t>, integridade dos dados  e organização</a:t>
            </a:r>
          </a:p>
          <a:p>
            <a:pPr>
              <a:lnSpc>
                <a:spcPts val="5137"/>
              </a:lnSpc>
            </a:pPr>
            <a:endParaRPr/>
          </a:p>
        </p:txBody>
      </p:sp>
      <p:grpSp>
        <p:nvGrpSpPr>
          <p:cNvPr id="23" name="Group 23"/>
          <p:cNvGrpSpPr/>
          <p:nvPr/>
        </p:nvGrpSpPr>
        <p:grpSpPr>
          <a:xfrm>
            <a:off x="4429093" y="1142973"/>
            <a:ext cx="9606146" cy="1467729"/>
            <a:chOff x="0" y="0"/>
            <a:chExt cx="2530014" cy="3865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30014" cy="386562"/>
            </a:xfrm>
            <a:custGeom>
              <a:avLst/>
              <a:gdLst/>
              <a:ahLst/>
              <a:cxnLst/>
              <a:rect l="l" t="t" r="r" b="b"/>
              <a:pathLst>
                <a:path w="2530014" h="386562">
                  <a:moveTo>
                    <a:pt x="5642" y="0"/>
                  </a:moveTo>
                  <a:lnTo>
                    <a:pt x="2524372" y="0"/>
                  </a:lnTo>
                  <a:cubicBezTo>
                    <a:pt x="2527488" y="0"/>
                    <a:pt x="2530014" y="2526"/>
                    <a:pt x="2530014" y="5642"/>
                  </a:cubicBezTo>
                  <a:lnTo>
                    <a:pt x="2530014" y="380921"/>
                  </a:lnTo>
                  <a:cubicBezTo>
                    <a:pt x="2530014" y="382417"/>
                    <a:pt x="2529419" y="383852"/>
                    <a:pt x="2528361" y="384910"/>
                  </a:cubicBezTo>
                  <a:cubicBezTo>
                    <a:pt x="2527303" y="385968"/>
                    <a:pt x="2525868" y="386562"/>
                    <a:pt x="2524372" y="386562"/>
                  </a:cubicBezTo>
                  <a:lnTo>
                    <a:pt x="5642" y="386562"/>
                  </a:lnTo>
                  <a:cubicBezTo>
                    <a:pt x="4145" y="386562"/>
                    <a:pt x="2710" y="385968"/>
                    <a:pt x="1652" y="384910"/>
                  </a:cubicBezTo>
                  <a:cubicBezTo>
                    <a:pt x="594" y="383852"/>
                    <a:pt x="0" y="382417"/>
                    <a:pt x="0" y="380921"/>
                  </a:cubicBezTo>
                  <a:lnTo>
                    <a:pt x="0" y="5642"/>
                  </a:lnTo>
                  <a:cubicBezTo>
                    <a:pt x="0" y="4145"/>
                    <a:pt x="594" y="2710"/>
                    <a:pt x="1652" y="1652"/>
                  </a:cubicBezTo>
                  <a:cubicBezTo>
                    <a:pt x="2710" y="594"/>
                    <a:pt x="4145" y="0"/>
                    <a:pt x="5642" y="0"/>
                  </a:cubicBezTo>
                  <a:close/>
                </a:path>
              </a:pathLst>
            </a:custGeom>
            <a:solidFill>
              <a:srgbClr val="E4FB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530014" cy="424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929290" y="1571601"/>
            <a:ext cx="7757252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87"/>
              </a:lnSpc>
            </a:pPr>
            <a:r>
              <a:rPr lang="en-US" sz="4500" dirty="0" err="1" smtClean="0">
                <a:solidFill>
                  <a:srgbClr val="000000"/>
                </a:solidFill>
                <a:latin typeface="Academy"/>
                <a:ea typeface="Academy"/>
                <a:cs typeface="Academy"/>
                <a:sym typeface="Academy"/>
              </a:rPr>
              <a:t>Banco</a:t>
            </a:r>
            <a:r>
              <a:rPr lang="en-US" sz="4500" dirty="0" smtClean="0">
                <a:solidFill>
                  <a:srgbClr val="000000"/>
                </a:solidFill>
                <a:latin typeface="Academy"/>
                <a:ea typeface="Academy"/>
                <a:cs typeface="Academy"/>
                <a:sym typeface="Academy"/>
              </a:rPr>
              <a:t> de dados </a:t>
            </a:r>
            <a:endParaRPr lang="en-US" sz="4500" dirty="0">
              <a:solidFill>
                <a:srgbClr val="000000"/>
              </a:solidFill>
              <a:latin typeface="Academy"/>
              <a:ea typeface="Academy"/>
              <a:cs typeface="Academy"/>
              <a:sym typeface="Academy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8744367" y="600685"/>
            <a:ext cx="7902966" cy="4592882"/>
          </a:xfrm>
          <a:custGeom>
            <a:avLst/>
            <a:gdLst/>
            <a:ahLst/>
            <a:cxnLst/>
            <a:rect l="l" t="t" r="r" b="b"/>
            <a:pathLst>
              <a:path w="7902966" h="4592881">
                <a:moveTo>
                  <a:pt x="0" y="0"/>
                </a:moveTo>
                <a:lnTo>
                  <a:pt x="7902966" y="0"/>
                </a:lnTo>
                <a:lnTo>
                  <a:pt x="7902966" y="4592881"/>
                </a:lnTo>
                <a:lnTo>
                  <a:pt x="0" y="4592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b="-72069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29753" y="714344"/>
            <a:ext cx="7902966" cy="4592882"/>
          </a:xfrm>
          <a:custGeom>
            <a:avLst/>
            <a:gdLst/>
            <a:ahLst/>
            <a:cxnLst/>
            <a:rect l="l" t="t" r="r" b="b"/>
            <a:pathLst>
              <a:path w="7902966" h="4592881">
                <a:moveTo>
                  <a:pt x="0" y="0"/>
                </a:moveTo>
                <a:lnTo>
                  <a:pt x="7902966" y="0"/>
                </a:lnTo>
                <a:lnTo>
                  <a:pt x="7902966" y="4592881"/>
                </a:lnTo>
                <a:lnTo>
                  <a:pt x="0" y="4592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72069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286480" y="428593"/>
            <a:ext cx="5918856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2"/>
              </a:lnSpc>
            </a:pPr>
            <a:r>
              <a:rPr lang="en-US" sz="7300" b="1" dirty="0" err="1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tabelas</a:t>
            </a:r>
            <a:endParaRPr lang="en-US" sz="73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1026" name="Picture 2" descr="sistema de venda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440" y="1500162"/>
            <a:ext cx="5914380" cy="8358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CaixaDeTexto 23"/>
          <p:cNvSpPr txBox="1"/>
          <p:nvPr/>
        </p:nvSpPr>
        <p:spPr>
          <a:xfrm>
            <a:off x="8215306" y="2500295"/>
            <a:ext cx="7715304" cy="6386362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r>
              <a:rPr lang="pt-BR" sz="2300" dirty="0" smtClean="0"/>
              <a:t>O banco de dados possuem as seguintes tabelas :</a:t>
            </a:r>
          </a:p>
          <a:p>
            <a:endParaRPr lang="pt-BR" sz="2300" dirty="0" smtClean="0"/>
          </a:p>
          <a:p>
            <a:r>
              <a:rPr lang="pt-BR" sz="2300" dirty="0" smtClean="0"/>
              <a:t>Na tabela clientes ele armazena nome, CPF/CNPJ, rua, telefone, numero, bairro,  CEP e referencia;</a:t>
            </a:r>
          </a:p>
          <a:p>
            <a:endParaRPr lang="pt-BR" sz="2300" dirty="0" smtClean="0"/>
          </a:p>
          <a:p>
            <a:r>
              <a:rPr lang="pt-BR" sz="2300" dirty="0" smtClean="0"/>
              <a:t>Pedidos armazena : </a:t>
            </a:r>
            <a:r>
              <a:rPr lang="pt-BR" sz="2300" dirty="0" err="1" smtClean="0"/>
              <a:t>id_clientes</a:t>
            </a:r>
            <a:r>
              <a:rPr lang="pt-BR" sz="2300" dirty="0" smtClean="0"/>
              <a:t> (FK),  </a:t>
            </a:r>
            <a:r>
              <a:rPr lang="pt-BR" sz="2300" dirty="0" err="1" smtClean="0"/>
              <a:t>id_produtos</a:t>
            </a:r>
            <a:r>
              <a:rPr lang="pt-BR" sz="2300" dirty="0" smtClean="0"/>
              <a:t>(FK), </a:t>
            </a:r>
            <a:r>
              <a:rPr lang="pt-BR" sz="2300" dirty="0" err="1" smtClean="0"/>
              <a:t>nun_ped</a:t>
            </a:r>
            <a:r>
              <a:rPr lang="pt-BR" sz="2300" dirty="0" smtClean="0"/>
              <a:t>, quantidade e data </a:t>
            </a:r>
            <a:r>
              <a:rPr lang="pt-BR" sz="2300" dirty="0" err="1" smtClean="0"/>
              <a:t>ped</a:t>
            </a:r>
            <a:r>
              <a:rPr lang="pt-BR" sz="2300" dirty="0" smtClean="0"/>
              <a:t>;</a:t>
            </a:r>
          </a:p>
          <a:p>
            <a:endParaRPr lang="pt-BR" sz="2300" dirty="0" smtClean="0"/>
          </a:p>
          <a:p>
            <a:r>
              <a:rPr lang="pt-BR" sz="2300" dirty="0" smtClean="0"/>
              <a:t>A tabela produtos armazena: </a:t>
            </a:r>
            <a:r>
              <a:rPr lang="pt-BR" sz="2300" dirty="0" err="1" smtClean="0"/>
              <a:t>código_barras</a:t>
            </a:r>
            <a:r>
              <a:rPr lang="pt-BR" sz="2300" dirty="0" smtClean="0"/>
              <a:t>, nome, descrição, estoque, valor, </a:t>
            </a:r>
            <a:r>
              <a:rPr lang="pt-BR" sz="2300" dirty="0" err="1" smtClean="0"/>
              <a:t>data_fabricação</a:t>
            </a:r>
            <a:r>
              <a:rPr lang="pt-BR" sz="2300" dirty="0" smtClean="0"/>
              <a:t> e </a:t>
            </a:r>
            <a:r>
              <a:rPr lang="pt-BR" sz="2300" dirty="0" err="1" smtClean="0"/>
              <a:t>data_validade</a:t>
            </a:r>
            <a:r>
              <a:rPr lang="pt-BR" sz="2300" dirty="0" smtClean="0"/>
              <a:t>;</a:t>
            </a:r>
          </a:p>
          <a:p>
            <a:endParaRPr lang="pt-BR" sz="2300" dirty="0" smtClean="0"/>
          </a:p>
          <a:p>
            <a:r>
              <a:rPr lang="pt-BR" sz="2300" dirty="0" smtClean="0"/>
              <a:t>A tabela produtos armazena os seguintes dados: </a:t>
            </a:r>
            <a:r>
              <a:rPr lang="pt-BR" sz="2300" dirty="0" err="1" smtClean="0"/>
              <a:t>id_fornecedor</a:t>
            </a:r>
            <a:r>
              <a:rPr lang="pt-BR" sz="2300" dirty="0" smtClean="0"/>
              <a:t>(FK), </a:t>
            </a:r>
            <a:r>
              <a:rPr lang="pt-BR" sz="2300" dirty="0" err="1" smtClean="0"/>
              <a:t>id_produtos</a:t>
            </a:r>
            <a:r>
              <a:rPr lang="pt-BR" sz="2300" dirty="0" smtClean="0"/>
              <a:t>(FK), quantidade, código e </a:t>
            </a:r>
            <a:r>
              <a:rPr lang="pt-BR" sz="2300" dirty="0" err="1" smtClean="0"/>
              <a:t>data_compra</a:t>
            </a:r>
            <a:r>
              <a:rPr lang="pt-BR" sz="2300" dirty="0" smtClean="0"/>
              <a:t>;</a:t>
            </a:r>
          </a:p>
          <a:p>
            <a:endParaRPr lang="pt-BR" sz="2300" dirty="0" smtClean="0"/>
          </a:p>
          <a:p>
            <a:r>
              <a:rPr lang="pt-BR" sz="2300" dirty="0" smtClean="0"/>
              <a:t>A tabela fornecedores armazena : nome, CPF/CNPJ, rua, numero, bairro, CEP, referencia e telefone;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1" y="806836"/>
            <a:ext cx="7902966" cy="4592882"/>
          </a:xfrm>
          <a:custGeom>
            <a:avLst/>
            <a:gdLst/>
            <a:ahLst/>
            <a:cxnLst/>
            <a:rect l="l" t="t" r="r" b="b"/>
            <a:pathLst>
              <a:path w="7902966" h="4592881">
                <a:moveTo>
                  <a:pt x="0" y="0"/>
                </a:moveTo>
                <a:lnTo>
                  <a:pt x="7902966" y="0"/>
                </a:lnTo>
                <a:lnTo>
                  <a:pt x="7902966" y="4592881"/>
                </a:lnTo>
                <a:lnTo>
                  <a:pt x="0" y="4592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72069"/>
            </a:stretch>
          </a:blipFill>
        </p:spPr>
      </p:sp>
      <p:sp>
        <p:nvSpPr>
          <p:cNvPr id="22" name="CaixaDeTexto 21"/>
          <p:cNvSpPr txBox="1"/>
          <p:nvPr/>
        </p:nvSpPr>
        <p:spPr>
          <a:xfrm>
            <a:off x="4786283" y="785783"/>
            <a:ext cx="7643866" cy="584773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ctr"/>
            <a:r>
              <a:rPr lang="pt-BR" sz="3200" dirty="0" smtClean="0"/>
              <a:t>S </a:t>
            </a:r>
            <a:r>
              <a:rPr lang="pt-BR" sz="3200" dirty="0" err="1" smtClean="0"/>
              <a:t>producers</a:t>
            </a:r>
            <a:endParaRPr lang="pt-BR" sz="3200" dirty="0"/>
          </a:p>
        </p:txBody>
      </p:sp>
      <p:pic>
        <p:nvPicPr>
          <p:cNvPr id="2050" name="Picture 2" descr="call na producer update produto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27" y="2786046"/>
            <a:ext cx="8696218" cy="302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 descr="update produto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15375" y="2143104"/>
            <a:ext cx="9072626" cy="3950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CaixaDeTexto 24"/>
          <p:cNvSpPr txBox="1"/>
          <p:nvPr/>
        </p:nvSpPr>
        <p:spPr>
          <a:xfrm>
            <a:off x="4714845" y="7143766"/>
            <a:ext cx="6744729" cy="646329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r>
              <a:rPr lang="pt-BR" dirty="0" smtClean="0"/>
              <a:t> </a:t>
            </a:r>
            <a:r>
              <a:rPr lang="pt-BR" dirty="0" err="1" smtClean="0"/>
              <a:t>sp_update_produtos</a:t>
            </a:r>
            <a:r>
              <a:rPr lang="pt-BR" dirty="0" smtClean="0"/>
              <a:t>: Esta </a:t>
            </a:r>
            <a:r>
              <a:rPr lang="pt-BR" dirty="0" err="1" smtClean="0"/>
              <a:t>producer</a:t>
            </a:r>
            <a:r>
              <a:rPr lang="pt-BR" dirty="0" smtClean="0"/>
              <a:t> faz um </a:t>
            </a:r>
            <a:r>
              <a:rPr lang="pt-BR" dirty="0" err="1" smtClean="0"/>
              <a:t>update</a:t>
            </a:r>
            <a:r>
              <a:rPr lang="pt-BR" dirty="0" smtClean="0"/>
              <a:t> na tabela produtos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36427" y="338719"/>
            <a:ext cx="7107678" cy="4130693"/>
          </a:xfrm>
          <a:custGeom>
            <a:avLst/>
            <a:gdLst/>
            <a:ahLst/>
            <a:cxnLst/>
            <a:rect l="l" t="t" r="r" b="b"/>
            <a:pathLst>
              <a:path w="7107678" h="4130692">
                <a:moveTo>
                  <a:pt x="0" y="0"/>
                </a:moveTo>
                <a:lnTo>
                  <a:pt x="7107678" y="0"/>
                </a:lnTo>
                <a:lnTo>
                  <a:pt x="7107678" y="4130692"/>
                </a:lnTo>
                <a:lnTo>
                  <a:pt x="0" y="4130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72069"/>
            </a:stretch>
          </a:blipFill>
        </p:spPr>
      </p:sp>
      <p:pic>
        <p:nvPicPr>
          <p:cNvPr id="3074" name="Picture 2" descr="chamando producer registrar compra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43802" y="3000360"/>
            <a:ext cx="7715304" cy="2969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 descr="codigo producer compra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2944" y="2428856"/>
            <a:ext cx="6215042" cy="4166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 descr="select onde a producer compra alterou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715240" y="6286508"/>
            <a:ext cx="8847938" cy="733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CaixaDeTexto 29"/>
          <p:cNvSpPr txBox="1"/>
          <p:nvPr/>
        </p:nvSpPr>
        <p:spPr>
          <a:xfrm>
            <a:off x="4929158" y="7572392"/>
            <a:ext cx="43577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sp_registrar_compra</a:t>
            </a:r>
            <a:r>
              <a:rPr lang="pt-BR" dirty="0" smtClean="0"/>
              <a:t>: Este </a:t>
            </a:r>
            <a:r>
              <a:rPr lang="pt-BR" dirty="0" err="1" smtClean="0"/>
              <a:t>producer</a:t>
            </a:r>
            <a:r>
              <a:rPr lang="pt-BR" dirty="0" smtClean="0"/>
              <a:t> faz um INSERT na tabela compras adicionando </a:t>
            </a:r>
            <a:r>
              <a:rPr lang="pt-BR" dirty="0" err="1" smtClean="0"/>
              <a:t>id_fornecedor</a:t>
            </a:r>
            <a:r>
              <a:rPr lang="pt-BR" dirty="0" smtClean="0"/>
              <a:t>, </a:t>
            </a:r>
            <a:r>
              <a:rPr lang="pt-BR" dirty="0" err="1" smtClean="0"/>
              <a:t>id_produtos</a:t>
            </a:r>
            <a:r>
              <a:rPr lang="pt-BR" dirty="0" smtClean="0"/>
              <a:t>, quantidade, código e </a:t>
            </a:r>
            <a:r>
              <a:rPr lang="pt-BR" dirty="0" err="1" smtClean="0"/>
              <a:t>data_compra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36427" y="338719"/>
            <a:ext cx="7107678" cy="4130693"/>
          </a:xfrm>
          <a:custGeom>
            <a:avLst/>
            <a:gdLst/>
            <a:ahLst/>
            <a:cxnLst/>
            <a:rect l="l" t="t" r="r" b="b"/>
            <a:pathLst>
              <a:path w="7107678" h="4130692">
                <a:moveTo>
                  <a:pt x="0" y="0"/>
                </a:moveTo>
                <a:lnTo>
                  <a:pt x="7107678" y="0"/>
                </a:lnTo>
                <a:lnTo>
                  <a:pt x="7107678" y="4130692"/>
                </a:lnTo>
                <a:lnTo>
                  <a:pt x="0" y="4130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72069"/>
            </a:stretch>
          </a:blipFill>
        </p:spPr>
      </p:sp>
      <p:pic>
        <p:nvPicPr>
          <p:cNvPr id="4098" name="Picture 2" descr="call producer compras por fornecedo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16" y="2214542"/>
            <a:ext cx="7715304" cy="4666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 descr="codigo producer fornecedor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01058" y="2183768"/>
            <a:ext cx="6786610" cy="476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CaixaDeTexto 27"/>
          <p:cNvSpPr txBox="1"/>
          <p:nvPr/>
        </p:nvSpPr>
        <p:spPr>
          <a:xfrm>
            <a:off x="3071770" y="7786706"/>
            <a:ext cx="6664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/>
              <a:t>sp_compras_por_fonecedor</a:t>
            </a:r>
            <a:r>
              <a:rPr lang="pt-BR" dirty="0" smtClean="0"/>
              <a:t>: Busca cada compra que o fornecedor fez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1" y="806836"/>
            <a:ext cx="7902966" cy="4592882"/>
          </a:xfrm>
          <a:custGeom>
            <a:avLst/>
            <a:gdLst/>
            <a:ahLst/>
            <a:cxnLst/>
            <a:rect l="l" t="t" r="r" b="b"/>
            <a:pathLst>
              <a:path w="7902966" h="4592881">
                <a:moveTo>
                  <a:pt x="0" y="0"/>
                </a:moveTo>
                <a:lnTo>
                  <a:pt x="7902966" y="0"/>
                </a:lnTo>
                <a:lnTo>
                  <a:pt x="7902966" y="4592881"/>
                </a:lnTo>
                <a:lnTo>
                  <a:pt x="0" y="4592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72069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142944" y="500030"/>
            <a:ext cx="15502046" cy="9001152"/>
            <a:chOff x="0" y="0"/>
            <a:chExt cx="6423863" cy="4160105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418859"/>
              <a:ext cx="6423863" cy="3741246"/>
              <a:chOff x="0" y="0"/>
              <a:chExt cx="3201970" cy="186482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201970" cy="1864821"/>
              </a:xfrm>
              <a:custGeom>
                <a:avLst/>
                <a:gdLst/>
                <a:ahLst/>
                <a:cxnLst/>
                <a:rect l="l" t="t" r="r" b="b"/>
                <a:pathLst>
                  <a:path w="3201970" h="1864821">
                    <a:moveTo>
                      <a:pt x="0" y="0"/>
                    </a:moveTo>
                    <a:lnTo>
                      <a:pt x="3201970" y="0"/>
                    </a:lnTo>
                    <a:lnTo>
                      <a:pt x="3201970" y="1864821"/>
                    </a:lnTo>
                    <a:lnTo>
                      <a:pt x="0" y="1864821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3201970" cy="1902921"/>
              </a:xfrm>
              <a:prstGeom prst="rect">
                <a:avLst/>
              </a:prstGeom>
            </p:spPr>
            <p:txBody>
              <a:bodyPr lIns="45642" tIns="45642" rIns="45642" bIns="45642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0"/>
              <a:ext cx="6423863" cy="557733"/>
              <a:chOff x="0" y="0"/>
              <a:chExt cx="2876863" cy="24977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876863" cy="249775"/>
              </a:xfrm>
              <a:custGeom>
                <a:avLst/>
                <a:gdLst/>
                <a:ahLst/>
                <a:cxnLst/>
                <a:rect l="l" t="t" r="r" b="b"/>
                <a:pathLst>
                  <a:path w="2876863" h="249775">
                    <a:moveTo>
                      <a:pt x="4253" y="0"/>
                    </a:moveTo>
                    <a:lnTo>
                      <a:pt x="2872610" y="0"/>
                    </a:lnTo>
                    <a:cubicBezTo>
                      <a:pt x="2873738" y="0"/>
                      <a:pt x="2874819" y="448"/>
                      <a:pt x="2875617" y="1246"/>
                    </a:cubicBezTo>
                    <a:cubicBezTo>
                      <a:pt x="2876415" y="2043"/>
                      <a:pt x="2876863" y="3125"/>
                      <a:pt x="2876863" y="4253"/>
                    </a:cubicBezTo>
                    <a:lnTo>
                      <a:pt x="2876863" y="245522"/>
                    </a:lnTo>
                    <a:cubicBezTo>
                      <a:pt x="2876863" y="246650"/>
                      <a:pt x="2876415" y="247732"/>
                      <a:pt x="2875617" y="248529"/>
                    </a:cubicBezTo>
                    <a:cubicBezTo>
                      <a:pt x="2874819" y="249327"/>
                      <a:pt x="2873738" y="249775"/>
                      <a:pt x="2872610" y="249775"/>
                    </a:cubicBezTo>
                    <a:lnTo>
                      <a:pt x="4253" y="249775"/>
                    </a:lnTo>
                    <a:cubicBezTo>
                      <a:pt x="3125" y="249775"/>
                      <a:pt x="2043" y="249327"/>
                      <a:pt x="1246" y="248529"/>
                    </a:cubicBezTo>
                    <a:cubicBezTo>
                      <a:pt x="448" y="247732"/>
                      <a:pt x="0" y="246650"/>
                      <a:pt x="0" y="245522"/>
                    </a:cubicBezTo>
                    <a:lnTo>
                      <a:pt x="0" y="4253"/>
                    </a:lnTo>
                    <a:cubicBezTo>
                      <a:pt x="0" y="3125"/>
                      <a:pt x="448" y="2043"/>
                      <a:pt x="1246" y="1246"/>
                    </a:cubicBezTo>
                    <a:cubicBezTo>
                      <a:pt x="2043" y="448"/>
                      <a:pt x="3125" y="0"/>
                      <a:pt x="4253" y="0"/>
                    </a:cubicBezTo>
                    <a:close/>
                  </a:path>
                </a:pathLst>
              </a:custGeom>
              <a:solidFill>
                <a:srgbClr val="E4FB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2876863" cy="287875"/>
              </a:xfrm>
              <a:prstGeom prst="rect">
                <a:avLst/>
              </a:prstGeom>
            </p:spPr>
            <p:txBody>
              <a:bodyPr lIns="45642" tIns="45642" rIns="45642" bIns="45642" rtlCol="0" anchor="ctr"/>
              <a:lstStyle/>
              <a:p>
                <a:pPr algn="ctr">
                  <a:lnSpc>
                    <a:spcPts val="266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29918" y="172386"/>
              <a:ext cx="203545" cy="203545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07B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5569" y="172386"/>
              <a:ext cx="203545" cy="203545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CB88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081219" y="172386"/>
              <a:ext cx="203545" cy="203545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0D2DD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</p:grpSp>
      <p:sp>
        <p:nvSpPr>
          <p:cNvPr id="42" name="CaixaDeTexto 41"/>
          <p:cNvSpPr txBox="1"/>
          <p:nvPr/>
        </p:nvSpPr>
        <p:spPr>
          <a:xfrm>
            <a:off x="7143736" y="2071666"/>
            <a:ext cx="3286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smtClean="0"/>
              <a:t>TRIGGERS</a:t>
            </a:r>
            <a:endParaRPr lang="pt-BR" sz="4000" dirty="0"/>
          </a:p>
        </p:txBody>
      </p:sp>
      <p:pic>
        <p:nvPicPr>
          <p:cNvPr id="5122" name="Picture 2" descr="trigger atualiza estoqu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696" y="3428988"/>
            <a:ext cx="7700940" cy="2417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CaixaDeTexto 43"/>
          <p:cNvSpPr txBox="1"/>
          <p:nvPr/>
        </p:nvSpPr>
        <p:spPr>
          <a:xfrm>
            <a:off x="1285820" y="6286508"/>
            <a:ext cx="6834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/>
              <a:t>Trg_atualiza_estoque_compras</a:t>
            </a:r>
            <a:r>
              <a:rPr lang="pt-BR" dirty="0" smtClean="0"/>
              <a:t>: Essa </a:t>
            </a:r>
            <a:r>
              <a:rPr lang="pt-BR" dirty="0" err="1" smtClean="0"/>
              <a:t>trigger</a:t>
            </a:r>
            <a:r>
              <a:rPr lang="pt-BR" dirty="0" smtClean="0"/>
              <a:t> atualiza o estoque </a:t>
            </a:r>
            <a:r>
              <a:rPr lang="pt-BR" dirty="0" smtClean="0"/>
              <a:t>compras</a:t>
            </a: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rigger atualiza estoque pedido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4646" y="1857352"/>
            <a:ext cx="10644262" cy="3735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4857720" y="6572260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Trg_atualiza_estoque_pedidos</a:t>
            </a:r>
            <a:r>
              <a:rPr lang="pt-BR" dirty="0" smtClean="0"/>
              <a:t>: </a:t>
            </a:r>
            <a:r>
              <a:rPr lang="pt-BR" dirty="0" err="1" smtClean="0"/>
              <a:t>Trigger</a:t>
            </a:r>
            <a:r>
              <a:rPr lang="pt-BR" dirty="0" smtClean="0"/>
              <a:t> atualiza estoque pedidos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01454" y="5929318"/>
            <a:ext cx="6294308" cy="3657995"/>
          </a:xfrm>
          <a:custGeom>
            <a:avLst/>
            <a:gdLst/>
            <a:ahLst/>
            <a:cxnLst/>
            <a:rect l="l" t="t" r="r" b="b"/>
            <a:pathLst>
              <a:path w="6294308" h="3657995">
                <a:moveTo>
                  <a:pt x="0" y="0"/>
                </a:moveTo>
                <a:lnTo>
                  <a:pt x="6294308" y="0"/>
                </a:lnTo>
                <a:lnTo>
                  <a:pt x="6294308" y="3657995"/>
                </a:lnTo>
                <a:lnTo>
                  <a:pt x="0" y="3657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72069"/>
            </a:stretch>
          </a:blipFill>
        </p:spPr>
      </p:sp>
      <p:pic>
        <p:nvPicPr>
          <p:cNvPr id="7170" name="Picture 2" descr="trg_produtos_atualiza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48" y="1285848"/>
            <a:ext cx="5073940" cy="424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 descr="tabela temporari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215174" y="1571600"/>
            <a:ext cx="9527224" cy="3133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CaixaDeTexto 27"/>
          <p:cNvSpPr txBox="1"/>
          <p:nvPr/>
        </p:nvSpPr>
        <p:spPr>
          <a:xfrm>
            <a:off x="5500662" y="6500822"/>
            <a:ext cx="7072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Trg_produtos_atualizar</a:t>
            </a:r>
            <a:r>
              <a:rPr lang="pt-BR" dirty="0" smtClean="0"/>
              <a:t>:  esta tabela insere todos os dados antigos que já foram alterados para a tabela temporária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6689" y="6728969"/>
            <a:ext cx="5682822" cy="3302624"/>
          </a:xfrm>
          <a:custGeom>
            <a:avLst/>
            <a:gdLst/>
            <a:ahLst/>
            <a:cxnLst/>
            <a:rect l="l" t="t" r="r" b="b"/>
            <a:pathLst>
              <a:path w="5682821" h="3302623">
                <a:moveTo>
                  <a:pt x="0" y="0"/>
                </a:moveTo>
                <a:lnTo>
                  <a:pt x="5682821" y="0"/>
                </a:lnTo>
                <a:lnTo>
                  <a:pt x="5682821" y="3302623"/>
                </a:lnTo>
                <a:lnTo>
                  <a:pt x="0" y="3302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72069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973666" y="362400"/>
            <a:ext cx="6391724" cy="3714609"/>
          </a:xfrm>
          <a:custGeom>
            <a:avLst/>
            <a:gdLst/>
            <a:ahLst/>
            <a:cxnLst/>
            <a:rect l="l" t="t" r="r" b="b"/>
            <a:pathLst>
              <a:path w="6391724" h="3714609">
                <a:moveTo>
                  <a:pt x="0" y="0"/>
                </a:moveTo>
                <a:lnTo>
                  <a:pt x="6391724" y="0"/>
                </a:lnTo>
                <a:lnTo>
                  <a:pt x="6391724" y="3714609"/>
                </a:lnTo>
                <a:lnTo>
                  <a:pt x="0" y="3714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72069"/>
            </a:stretch>
          </a:blipFill>
        </p:spPr>
      </p:sp>
      <p:sp>
        <p:nvSpPr>
          <p:cNvPr id="27" name="CaixaDeTexto 26"/>
          <p:cNvSpPr txBox="1"/>
          <p:nvPr/>
        </p:nvSpPr>
        <p:spPr>
          <a:xfrm>
            <a:off x="7143736" y="571468"/>
            <a:ext cx="2357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 err="1" smtClean="0"/>
              <a:t>view</a:t>
            </a:r>
            <a:endParaRPr lang="pt-BR" sz="3600" dirty="0"/>
          </a:p>
        </p:txBody>
      </p:sp>
      <p:pic>
        <p:nvPicPr>
          <p:cNvPr id="8194" name="Picture 2" descr="view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14712" y="1571600"/>
            <a:ext cx="14124874" cy="1039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 descr="view selec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57588" y="2428856"/>
            <a:ext cx="4786346" cy="7443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CaixaDeTexto 29"/>
          <p:cNvSpPr txBox="1"/>
          <p:nvPr/>
        </p:nvSpPr>
        <p:spPr>
          <a:xfrm>
            <a:off x="8358182" y="5357814"/>
            <a:ext cx="8732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/>
              <a:t>View_clientes_com_mais_compras</a:t>
            </a:r>
            <a:r>
              <a:rPr lang="pt-BR" dirty="0" smtClean="0"/>
              <a:t>: essa </a:t>
            </a:r>
            <a:r>
              <a:rPr lang="pt-BR" dirty="0" err="1" smtClean="0"/>
              <a:t>view</a:t>
            </a:r>
            <a:r>
              <a:rPr lang="pt-BR" dirty="0" smtClean="0"/>
              <a:t> faz um </a:t>
            </a:r>
            <a:r>
              <a:rPr lang="pt-BR" dirty="0" err="1" smtClean="0"/>
              <a:t>select</a:t>
            </a:r>
            <a:r>
              <a:rPr lang="pt-BR" dirty="0" smtClean="0"/>
              <a:t> nos clientes que tem mais compras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/>
          <p:cNvSpPr/>
          <p:nvPr/>
        </p:nvSpPr>
        <p:spPr>
          <a:xfrm>
            <a:off x="-338166" y="8412745"/>
            <a:ext cx="6450064" cy="3748514"/>
          </a:xfrm>
          <a:custGeom>
            <a:avLst/>
            <a:gdLst/>
            <a:ahLst/>
            <a:cxnLst/>
            <a:rect l="l" t="t" r="r" b="b"/>
            <a:pathLst>
              <a:path w="6450063" h="3748513">
                <a:moveTo>
                  <a:pt x="0" y="0"/>
                </a:moveTo>
                <a:lnTo>
                  <a:pt x="6450063" y="0"/>
                </a:lnTo>
                <a:lnTo>
                  <a:pt x="6450063" y="3748512"/>
                </a:lnTo>
                <a:lnTo>
                  <a:pt x="0" y="374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b="-72069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744367" y="600685"/>
            <a:ext cx="7902966" cy="4592882"/>
          </a:xfrm>
          <a:custGeom>
            <a:avLst/>
            <a:gdLst/>
            <a:ahLst/>
            <a:cxnLst/>
            <a:rect l="l" t="t" r="r" b="b"/>
            <a:pathLst>
              <a:path w="7902966" h="4592881">
                <a:moveTo>
                  <a:pt x="0" y="0"/>
                </a:moveTo>
                <a:lnTo>
                  <a:pt x="7902966" y="0"/>
                </a:lnTo>
                <a:lnTo>
                  <a:pt x="7902966" y="4592881"/>
                </a:lnTo>
                <a:lnTo>
                  <a:pt x="0" y="4592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b="-72069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357522" y="3428988"/>
            <a:ext cx="11370230" cy="247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1"/>
              </a:lnSpc>
            </a:pPr>
            <a:r>
              <a:rPr lang="en-US" sz="7300" dirty="0" smtClean="0">
                <a:solidFill>
                  <a:srgbClr val="000000"/>
                </a:solidFill>
                <a:latin typeface="Academy"/>
                <a:ea typeface="Academy"/>
                <a:cs typeface="Academy"/>
                <a:sym typeface="Academy"/>
              </a:rPr>
              <a:t>Obrigado </a:t>
            </a:r>
            <a:r>
              <a:rPr lang="en-US" sz="7300" dirty="0" err="1" smtClean="0">
                <a:solidFill>
                  <a:srgbClr val="000000"/>
                </a:solidFill>
                <a:latin typeface="Academy"/>
                <a:ea typeface="Academy"/>
                <a:cs typeface="Academy"/>
                <a:sym typeface="Academy"/>
              </a:rPr>
              <a:t>pela</a:t>
            </a:r>
            <a:r>
              <a:rPr lang="en-US" sz="7300" dirty="0" smtClean="0">
                <a:solidFill>
                  <a:srgbClr val="000000"/>
                </a:solidFill>
                <a:latin typeface="Academy"/>
                <a:ea typeface="Academy"/>
                <a:cs typeface="Academy"/>
                <a:sym typeface="Academy"/>
              </a:rPr>
              <a:t> </a:t>
            </a:r>
            <a:r>
              <a:rPr lang="en-US" sz="7300" dirty="0" err="1" smtClean="0">
                <a:solidFill>
                  <a:srgbClr val="000000"/>
                </a:solidFill>
                <a:latin typeface="Academy"/>
                <a:ea typeface="Academy"/>
                <a:cs typeface="Academy"/>
                <a:sym typeface="Academy"/>
              </a:rPr>
              <a:t>atenção</a:t>
            </a:r>
            <a:endParaRPr lang="en-US" sz="7300" dirty="0">
              <a:solidFill>
                <a:srgbClr val="000000"/>
              </a:solidFill>
              <a:latin typeface="Academy"/>
              <a:ea typeface="Academy"/>
              <a:cs typeface="Academy"/>
              <a:sym typeface="Academy"/>
            </a:endParaRPr>
          </a:p>
        </p:txBody>
      </p:sp>
      <p:pic>
        <p:nvPicPr>
          <p:cNvPr id="21506" name="Picture 2" descr="Cachorro dando sinal de positivo | Meme de cachorro, Piadas hilárias, Fotos  engraçadas de cãe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002" y="4786310"/>
            <a:ext cx="4714908" cy="4699412"/>
          </a:xfrm>
          <a:prstGeom prst="rect">
            <a:avLst/>
          </a:prstGeom>
          <a:noFill/>
        </p:spPr>
      </p:pic>
      <p:pic>
        <p:nvPicPr>
          <p:cNvPr id="21508" name="Picture 4" descr="17 Pinguins ideas | pingu walrus meme, ping meme, rico penguin mem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573156" y="285716"/>
            <a:ext cx="4214842" cy="411661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218</Words>
  <Application>Microsoft Office PowerPoint</Application>
  <PresentationFormat>Personalizar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Tw Cen MT</vt:lpstr>
      <vt:lpstr>Canva Sans Bold</vt:lpstr>
      <vt:lpstr>Academy</vt:lpstr>
      <vt:lpstr>Wingdings</vt:lpstr>
      <vt:lpstr>Wingdings 2</vt:lpstr>
      <vt:lpstr>Mediano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Empreendedorismo  Moderno Colorido</dc:title>
  <cp:lastModifiedBy>aluno</cp:lastModifiedBy>
  <cp:revision>5</cp:revision>
  <dcterms:created xsi:type="dcterms:W3CDTF">2006-08-16T00:00:00Z</dcterms:created>
  <dcterms:modified xsi:type="dcterms:W3CDTF">2026-10-08T19:56:48Z</dcterms:modified>
  <dc:identifier>DAHXc8yKuTw</dc:identifier>
</cp:coreProperties>
</file>